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3ed717657c4c3b" /><Relationship Type="http://schemas.openxmlformats.org/officeDocument/2006/relationships/extended-properties" Target="/docProps/app.xml" Id="R24602b3ff110472b" /><Relationship Type="http://schemas.openxmlformats.org/officeDocument/2006/relationships/officeDocument" Target="/ppt/presentation.xml" Id="R1c825b0e4b6b4c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b7b5e1adb947f7"/>
  </p:sldMasterIdLst>
  <p:notesMasterIdLst>
    <p:notesMasterId xmlns:r="http://schemas.openxmlformats.org/officeDocument/2006/relationships" r:id="R519e188b79984ec2"/>
  </p:notesMasterIdLst>
  <p:sldIdLst>
    <p:sldId xmlns:r="http://schemas.openxmlformats.org/officeDocument/2006/relationships" id="256" r:id="Rddd4a05f63a04aee"/>
    <p:sldId xmlns:r="http://schemas.openxmlformats.org/officeDocument/2006/relationships" id="257" r:id="Rcbfdc3c3cad543d8"/>
    <p:sldId xmlns:r="http://schemas.openxmlformats.org/officeDocument/2006/relationships" id="258" r:id="Ra0976dbb0b5b4f23"/>
    <p:sldId xmlns:r="http://schemas.openxmlformats.org/officeDocument/2006/relationships" id="259" r:id="R94e5e684c80245e3"/>
    <p:sldId xmlns:r="http://schemas.openxmlformats.org/officeDocument/2006/relationships" id="260" r:id="R2d54437ada10430c"/>
    <p:sldId xmlns:r="http://schemas.openxmlformats.org/officeDocument/2006/relationships" id="261" r:id="R9995f54af9c94dd6"/>
    <p:sldId xmlns:r="http://schemas.openxmlformats.org/officeDocument/2006/relationships" id="262" r:id="R91b03221aee54f1f"/>
    <p:sldId xmlns:r="http://schemas.openxmlformats.org/officeDocument/2006/relationships" id="263" r:id="R58e6427ff9044b42"/>
    <p:sldId xmlns:r="http://schemas.openxmlformats.org/officeDocument/2006/relationships" id="264" r:id="R2dfacdc701ba43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0355d790204a21" /><Relationship Type="http://schemas.openxmlformats.org/officeDocument/2006/relationships/slideMaster" Target="/ppt/slideMasters/slideMaster1.xml" Id="R5bb7b5e1adb947f7" /><Relationship Type="http://schemas.openxmlformats.org/officeDocument/2006/relationships/notesMaster" Target="/ppt/notesMasters/notesMaster1.xml" Id="R519e188b79984ec2" /><Relationship Type="http://schemas.openxmlformats.org/officeDocument/2006/relationships/presProps" Target="/ppt/presProps.xml" Id="R977517b7d06748f9" /><Relationship Type="http://schemas.openxmlformats.org/officeDocument/2006/relationships/tableStyles" Target="/ppt/tableStyles.xml" Id="R7b6e44a661c5469d" /><Relationship Type="http://schemas.openxmlformats.org/officeDocument/2006/relationships/slide" Target="/ppt/slides/slide1.xml" Id="Rddd4a05f63a04aee" /><Relationship Type="http://schemas.openxmlformats.org/officeDocument/2006/relationships/slide" Target="/ppt/slides/slide2.xml" Id="Rcbfdc3c3cad543d8" /><Relationship Type="http://schemas.openxmlformats.org/officeDocument/2006/relationships/slide" Target="/ppt/slides/slide3.xml" Id="Ra0976dbb0b5b4f23" /><Relationship Type="http://schemas.openxmlformats.org/officeDocument/2006/relationships/slide" Target="/ppt/slides/slide4.xml" Id="R94e5e684c80245e3" /><Relationship Type="http://schemas.openxmlformats.org/officeDocument/2006/relationships/slide" Target="/ppt/slides/slide5.xml" Id="R2d54437ada10430c" /><Relationship Type="http://schemas.openxmlformats.org/officeDocument/2006/relationships/slide" Target="/ppt/slides/slide6.xml" Id="R9995f54af9c94dd6" /><Relationship Type="http://schemas.openxmlformats.org/officeDocument/2006/relationships/slide" Target="/ppt/slides/slide7.xml" Id="R91b03221aee54f1f" /><Relationship Type="http://schemas.openxmlformats.org/officeDocument/2006/relationships/slide" Target="/ppt/slides/slide8.xml" Id="R58e6427ff9044b42" /><Relationship Type="http://schemas.openxmlformats.org/officeDocument/2006/relationships/slide" Target="/ppt/slides/slide9.xml" Id="R2dfacdc701ba43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26f0fb1bfb44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96d351ac364228" /><Relationship Type="http://schemas.openxmlformats.org/officeDocument/2006/relationships/notesMaster" Target="/ppt/notesMasters/notesMaster1.xml" Id="Rc9ee4f999d9e4a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b8ed5286704e19" /><Relationship Type="http://schemas.openxmlformats.org/officeDocument/2006/relationships/notesMaster" Target="/ppt/notesMasters/notesMaster1.xml" Id="R63c257f99db94a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0a482672bb499e" /><Relationship Type="http://schemas.openxmlformats.org/officeDocument/2006/relationships/notesMaster" Target="/ppt/notesMasters/notesMaster1.xml" Id="Ra03e01c2ea5349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8d19008f064ba5" /><Relationship Type="http://schemas.openxmlformats.org/officeDocument/2006/relationships/notesMaster" Target="/ppt/notesMasters/notesMaster1.xml" Id="Rc00d7309575a4e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c1796ad59b45b7" /><Relationship Type="http://schemas.openxmlformats.org/officeDocument/2006/relationships/notesMaster" Target="/ppt/notesMasters/notesMaster1.xml" Id="R80f296498db94d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68197d5afd44a6" /><Relationship Type="http://schemas.openxmlformats.org/officeDocument/2006/relationships/notesMaster" Target="/ppt/notesMasters/notesMaster1.xml" Id="R487746aacdd94d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880fd696ad4760" /><Relationship Type="http://schemas.openxmlformats.org/officeDocument/2006/relationships/notesMaster" Target="/ppt/notesMasters/notesMaster1.xml" Id="R5ceffc2956cd4b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099c3d59a144b6" /><Relationship Type="http://schemas.openxmlformats.org/officeDocument/2006/relationships/notesMaster" Target="/ppt/notesMasters/notesMaster1.xml" Id="R02c7a50d88f04c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3410c0c5094563" /><Relationship Type="http://schemas.openxmlformats.org/officeDocument/2006/relationships/notesMaster" Target="/ppt/notesMasters/notesMaster1.xml" Id="R069aa97c52ca42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66895677140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26c6a664bb40ce" /><Relationship Type="http://schemas.openxmlformats.org/officeDocument/2006/relationships/slideLayout" Target="/ppt/slideLayouts/slideLayout1.xml" Id="R3a586305d17e42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586305d17e42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57ae34b7a432c" /><Relationship Type="http://schemas.openxmlformats.org/officeDocument/2006/relationships/notesSlide" Target="/ppt/notesSlides/notesSlide1.xml" Id="R246d78251b0a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7da11e0ba468e" /><Relationship Type="http://schemas.openxmlformats.org/officeDocument/2006/relationships/notesSlide" Target="/ppt/notesSlides/notesSlide2.xml" Id="R4f9baecd380041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c859ebcba4642" /><Relationship Type="http://schemas.openxmlformats.org/officeDocument/2006/relationships/notesSlide" Target="/ppt/notesSlides/notesSlide3.xml" Id="R11d3ad532495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bcda87c494dbb" /><Relationship Type="http://schemas.openxmlformats.org/officeDocument/2006/relationships/notesSlide" Target="/ppt/notesSlides/notesSlide4.xml" Id="Redf68c4523cd44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a295e53954119" /><Relationship Type="http://schemas.openxmlformats.org/officeDocument/2006/relationships/notesSlide" Target="/ppt/notesSlides/notesSlide5.xml" Id="Rf705408168cc45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8441758554efc" /><Relationship Type="http://schemas.openxmlformats.org/officeDocument/2006/relationships/notesSlide" Target="/ppt/notesSlides/notesSlide6.xml" Id="Rb64a92e0a3ba4b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b9ce8836e49ba" /><Relationship Type="http://schemas.openxmlformats.org/officeDocument/2006/relationships/notesSlide" Target="/ppt/notesSlides/notesSlide7.xml" Id="R2d1add8a151248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ab0e87d864690" /><Relationship Type="http://schemas.openxmlformats.org/officeDocument/2006/relationships/notesSlide" Target="/ppt/notesSlides/notesSlide8.xml" Id="R6c3bb3e1b80c4f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c0fc8e83247df" /><Relationship Type="http://schemas.openxmlformats.org/officeDocument/2006/relationships/notesSlide" Target="/ppt/notesSlides/notesSlide9.xml" Id="Rded0133b688142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F3CBC-2BC4-4995-AEF4-7776F4E0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B8C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FB2ED-85B8-4013-89A9-109B31A5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DIGITAL LOGIC DESIGN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90AEE-A8DC-4C77-8939-270F2FDA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685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4-Bit Synchronous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Up/Down Counter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14574-1A65-4265-AD2D-66F51DE4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8DFF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8DFF2"/>
                </a:solidFill>
                <a:latin typeface="Aptos"/>
                <a:ea typeface="Aptos"/>
                <a:cs typeface="Aptos"/>
              </a:rPr>
              <a:t>With seven-segment display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956D2-F5D1-41F3-A147-31D9282B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85900"/>
            <a:ext cx="666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3E5B"/>
          </a:solidFill>
          <a:ln xmlns:a="http://schemas.openxmlformats.org/drawingml/2006/main" w="19050">
            <a:solidFill>
              <a:srgbClr val="15B8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64703-DBA6-46BB-B4AE-0A3495AC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1431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08C0F-1CDB-4C59-AD5B-138C027F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85900"/>
            <a:ext cx="666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3E5B"/>
          </a:solidFill>
          <a:ln xmlns:a="http://schemas.openxmlformats.org/drawingml/2006/main" w="19050">
            <a:solidFill>
              <a:srgbClr val="15B8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114D5-4CDF-42A0-92A1-52F5E70E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431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6109F-94F2-49A9-943D-B2637F0D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85900"/>
            <a:ext cx="666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3E5B"/>
          </a:solidFill>
          <a:ln xmlns:a="http://schemas.openxmlformats.org/drawingml/2006/main" w="19050">
            <a:solidFill>
              <a:srgbClr val="15B8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76B4C-C9B0-43E2-88FC-21915C22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431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AC07C-B1D4-42E8-87DC-D8005ABA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85900"/>
            <a:ext cx="666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3E5B"/>
          </a:solidFill>
          <a:ln xmlns:a="http://schemas.openxmlformats.org/drawingml/2006/main" w="19050">
            <a:solidFill>
              <a:srgbClr val="15B8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Q0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34896-9461-4FA2-8350-3592B2A6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FEFCE-5FCB-4041-8309-4A5AECB3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DF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FF2"/>
                </a:solidFill>
                <a:latin typeface="Aptos"/>
                <a:ea typeface="Aptos"/>
                <a:cs typeface="Aptos"/>
              </a:rPr>
              <a:t>Clocked digital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27249-F3D8-48F0-9E47-D1256A7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FB6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FB6D2"/>
                </a:solidFill>
                <a:latin typeface="Aptos"/>
                <a:ea typeface="Aptos"/>
                <a:cs typeface="Aptos"/>
              </a:rPr>
              <a:t>Prepared for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3441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217E5-D3D6-446B-BEB9-04EAA682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825F4-8EC5-4CF1-B30C-786D919E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EE46D-AF10-4347-A878-776D3B5F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 synchronous counter changes all four output bits on the same clock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D50B0-73B8-4BD6-87D0-F449379E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D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D85C8-C965-49D9-8BD4-9F1DABE4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571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Count upward</a:t>
            </a:r>
          </a:p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0000 to 1111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FDC54-31C4-4B3D-8D6F-AA89AA48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571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19050">
            <a:solidFill>
              <a:srgbClr val="15B8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Select direction</a:t>
            </a:r>
          </a:p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with one control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62FB8-7ECF-43C5-B7B5-97E72BAE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28875"/>
            <a:ext cx="2571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6E4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Count downward</a:t>
            </a:r>
          </a:p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1111 to 0000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29000" y="30384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81875" y="30384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85CC4-4520-487B-A5F1-F7D589B4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C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C8"/>
                </a:solidFill>
                <a:latin typeface="Aptos"/>
                <a:ea typeface="Aptos"/>
                <a:cs typeface="Aptos"/>
              </a:rPr>
              <a:t>UP/DOWN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8A7FA-826B-48FA-A0B3-73A89F1B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UP/DOWN =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E8ACF-077E-4759-A5E9-DA984E38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display presents the 4-bit output as hexadecimal digits 0–F.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45081-F534-4DC9-9895-63382378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Design and Simulation of a 4-Bit Synchronous Up/Down Counter</a:t>
            </a:r>
          </a:p>
        </p:txBody>
      </p:sp>
    </p:spTree>
    <p:extLst>
      <p:ext uri="{BB962C8B-B14F-4D97-AF65-F5344CB8AC3E}">
        <p14:creationId xmlns:p14="http://schemas.microsoft.com/office/powerpoint/2010/main" val="992634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B89A2-03E8-4C59-A116-6B320120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BE6D9-E8B5-4C8A-95E0-0139CD6C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EEEE6-1C97-48F9-AFC8-2569302B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Three functional blocks form the complete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AF993-0D8D-44FA-8D80-A09A3317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D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3A791-BC6A-4014-A735-6A9850EE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1571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CLOCK</a:t>
            </a:r>
          </a:p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5E762-E57D-4C90-A0E5-37915371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2952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19050">
            <a:solidFill>
              <a:srgbClr val="15B8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4-BIT SYNCHRONOUS</a:t>
            </a:r>
          </a:p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UP/DOWN COUNTER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DD49F-AC3A-4886-BD1D-A9B8152C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095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4-BIT TO 7-SEGMENT</a:t>
            </a:r>
          </a:p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DECODER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7EAD1-7399-4F4B-BE42-869D33BD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67000"/>
            <a:ext cx="13811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6E4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7-SEGMENT</a:t>
            </a:r>
          </a:p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DISPLAY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321468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86500" y="321468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29750" y="3214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7E155-CDCB-4593-946F-C6615131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2095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B8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UP/DOWN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709FA-B982-4BF1-8637-E951963A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38112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4F5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cxnSp>
        <p:nvCxnSpPr>
          <p:cNvPr id="31" name=""/>
          <p:cNvCxnSpPr>
            <a:stCxn xmlns:a="http://schemas.openxmlformats.org/drawingml/2006/main" id="12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4762500" y="4000500"/>
            <a:ext cx="476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B8C6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13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1738313" y="4000500"/>
            <a:ext cx="3071813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04F5F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ECD29-800B-471B-8609-E653BAF4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2386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7C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77C8"/>
                </a:solidFill>
                <a:latin typeface="Aptos"/>
                <a:ea typeface="Aptos"/>
                <a:cs typeface="Aptos"/>
              </a:rPr>
              <a:t>Q3  Q2  Q1  Q0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A4315-4CA1-4838-8D51-F07E5313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Design and Simulation of a 4-Bit Synchronous Up/Down Counter</a:t>
            </a:r>
          </a:p>
        </p:txBody>
      </p:sp>
    </p:spTree>
    <p:extLst>
      <p:ext uri="{BB962C8B-B14F-4D97-AF65-F5344CB8AC3E}">
        <p14:creationId xmlns:p14="http://schemas.microsoft.com/office/powerpoint/2010/main" val="1726228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6CB26-AC05-41A8-866D-121A3EC3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A1EEA-E319-43D8-ABB0-CCD3380A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Synchronous counter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C35D0-DE6E-412E-965E-CE2F59E8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Every flip-flop receives the same clock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99ACD-253A-4BF2-9AD7-57AA23E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D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52385-3220-4768-81CC-A15C97F0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Shared clock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D0303-F918-4C69-A33C-F0A50C5A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143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15B8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CLK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7540A-92B1-4651-88DC-2CE764C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1428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 FLIP-FLOP</a:t>
            </a:r>
          </a:p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Q0</a:t>
            </a:r>
          </a:p>
        </p:txBody>
      </p: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019300" y="3086100"/>
            <a:ext cx="13144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B8C6"/>
            </a:solidFill>
            <a:prstDash val="solid"/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A82CB-8DB6-4041-A3FB-E0067334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905250"/>
            <a:ext cx="809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D0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BF58D-5B21-4243-8811-81151628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1428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 FLIP-FLOP</a:t>
            </a:r>
          </a:p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019300" y="3086100"/>
            <a:ext cx="33147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B8C6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94D95-578F-4C23-9EAC-41875DB3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905250"/>
            <a:ext cx="809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AD106-67B2-4150-AC49-4B397DA4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428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 FLIP-FLOP</a:t>
            </a:r>
          </a:p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2019300" y="3086100"/>
            <a:ext cx="53149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B8C6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ED86E-5EFB-493F-97D2-9DA36B20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905250"/>
            <a:ext cx="809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F48E5-8EAC-4CDF-A409-56E1C6F2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428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 FLIP-FLOP</a:t>
            </a:r>
          </a:p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019300" y="3086100"/>
            <a:ext cx="73152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B8C6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CAFBB-EF88-42B0-B10A-4E5F4650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05250"/>
            <a:ext cx="809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D3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54092D-6D03-4741-B56C-6A88C7F4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435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All outputs update together at the active clock edge. This avoids ripple delay between bits.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C0B15-0116-4C86-B627-BC79F7B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Design and Simulation of a 4-Bit Synchronous Up/Down Counter</a:t>
            </a:r>
          </a:p>
        </p:txBody>
      </p:sp>
    </p:spTree>
    <p:extLst>
      <p:ext uri="{BB962C8B-B14F-4D97-AF65-F5344CB8AC3E}">
        <p14:creationId xmlns:p14="http://schemas.microsoft.com/office/powerpoint/2010/main" val="371144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533572-F617-4E91-8EB1-B1FAA7F5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A7FE1-EC17-49B8-B637-1E7C6B76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Direction control and state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EEFEC-3E99-4E5D-BC04-7182F639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UP/DOWN input selects the next binary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50C00-AEEE-4734-9886-82A81CE1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D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FC3DB-CE30-40DB-B604-0A5D8D6E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77C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77C8"/>
                </a:solidFill>
                <a:latin typeface="Aptos"/>
                <a:ea typeface="Aptos"/>
                <a:cs typeface="Aptos"/>
              </a:rPr>
              <a:t>UP/DOWN = 1  |  Increment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A3E5E-E1A4-4A24-88D7-576D2AE3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UP/DOWN = 0  |  Decrement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D74A8-E024-44CF-9AA1-9C56EAB0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0000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493BD-D21A-4ADF-9592-BDC59D03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0001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00250" y="3248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2B14F-E6F2-4144-98DF-F5831B07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5275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0010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67125" y="3248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C30EB-2742-405D-B1ED-669BB521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334000" y="3248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E39AB-00BB-4ACC-AB70-F4282281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5275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1111</a:t>
            </a:r>
          </a:p>
        </p:txBody>
      </p: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00875" y="3248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06AD1-9E77-4932-B5D9-B98B81CE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0000</a:t>
            </a:r>
          </a:p>
        </p:txBody>
      </p:sp>
      <p:cxnSp>
        <p:nvCxnSpPr>
          <p:cNvPr id="47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667750" y="3248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F45A4-E564-4567-8D42-1DE3D49D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6E4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1111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DFC14-3DE6-4B64-935F-6CECC471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6E4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1110</a:t>
            </a:r>
          </a:p>
        </p:txBody>
      </p:sp>
      <p:cxnSp>
        <p:nvCxnSpPr>
          <p:cNvPr id="5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000250" y="4676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59E0B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7DEBD-33B5-442B-991B-ED1778A4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8150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6E4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1101</a:t>
            </a:r>
          </a:p>
        </p:txBody>
      </p:sp>
      <p:cxnSp>
        <p:nvCxnSpPr>
          <p:cNvPr id="52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667125" y="4676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59E0B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BD05D-51C6-4F40-9E62-DCF62242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6E4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cxnSp>
        <p:nvCxnSpPr>
          <p:cNvPr id="54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334000" y="4676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59E0B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B89640-FE57-44A9-9DFD-6C54760B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8150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6E4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0000</a:t>
            </a:r>
          </a:p>
        </p:txBody>
      </p:sp>
      <p:cxnSp>
        <p:nvCxnSpPr>
          <p:cNvPr id="56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000875" y="4676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59E0B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59FFCC-D970-4A53-8C73-09AF11E1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81500"/>
            <a:ext cx="1095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6E4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1111</a:t>
            </a:r>
          </a:p>
        </p:txBody>
      </p:sp>
      <p:cxnSp>
        <p:nvCxnSpPr>
          <p:cNvPr id="58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8667750" y="4676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59E0B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D7DD1E-3146-458D-BD12-2AE90832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Wraparound: 1111 returns to 0000 when counting up; 0000 returns to 1111 when counting down.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84DC6E-232E-4D4D-BF33-F1EF2FB7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Design and Simulation of a 4-Bit Synchronous Up/Down Counter</a:t>
            </a:r>
          </a:p>
        </p:txBody>
      </p:sp>
    </p:spTree>
    <p:extLst>
      <p:ext uri="{BB962C8B-B14F-4D97-AF65-F5344CB8AC3E}">
        <p14:creationId xmlns:p14="http://schemas.microsoft.com/office/powerpoint/2010/main" val="1654631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8EB4B-8945-4A69-9F36-B03F3ABE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7CF22-13E4-4BDE-A5D2-D0548C17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Implementation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F7C4C-B88D-4E5F-AE4A-6EE64F04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Choose the approach that matches your course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345C0-A383-4507-AA8F-C9BB03F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D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A7C32-FC3C-4753-BC28-86D4D5F1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4286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Logic design with flip-flops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2A664-2B4E-405A-937A-6A386F0F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• Four D flip-flops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• Combinational next-state logic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• One shared clock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0D5DC-BDFB-4854-B9E0-4A48E26D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38375"/>
            <a:ext cx="4286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19050">
            <a:solidFill>
              <a:srgbClr val="15B8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Counter IC or simulator block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874A2-FA92-43B0-AACD-DF161440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76625"/>
            <a:ext cx="352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• Configure a 4-bit synchronous counter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• Connect UP/DOWN and reset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• Observe outputs on the display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CDA79-CB03-48F3-AB2D-058A4842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Either approach must demonstrate synchronous counting, direction selection, reset, and wraparound.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F5535-D11E-4023-88C2-BCFB406E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Design and Simulation of a 4-Bit Synchronous Up/Down Counter</a:t>
            </a:r>
          </a:p>
        </p:txBody>
      </p:sp>
    </p:spTree>
    <p:extLst>
      <p:ext uri="{BB962C8B-B14F-4D97-AF65-F5344CB8AC3E}">
        <p14:creationId xmlns:p14="http://schemas.microsoft.com/office/powerpoint/2010/main" val="747745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CAF92-CE31-4A36-9337-31073E46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864F1-0296-4ED2-A645-62B909B4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Seven-segment display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BE71D-2FAC-41FA-849F-ED6772D9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decoder converts four binary inputs into seven segment control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A8927-C6D6-4AC8-8F82-31C344B3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D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672B1-CAEA-4219-819F-513B55DC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00375"/>
            <a:ext cx="2333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Q3  Q2  Q1  Q0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E96A5-549B-468D-9071-8CE6054A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809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19050">
            <a:solidFill>
              <a:srgbClr val="15B8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HEX / BCD TO</a:t>
            </a:r>
          </a:p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7-SEGMENT DECODER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6D786-2222-447F-B80A-D978C79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0037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6E4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  b  c  d</a:t>
            </a:r>
          </a:p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  f  g</a:t>
            </a:r>
          </a:p>
        </p:txBody>
      </p: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429000" y="3333750"/>
            <a:ext cx="123825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77125" y="3333750"/>
            <a:ext cx="123825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77C8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B64D9-9AB3-4714-B675-B0685FB1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Display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E608F-565F-472D-A11F-106C48B1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14950"/>
            <a:ext cx="985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0000 = 0     1001 = 9     1010 = A     1111 = 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3E9EE-2BCD-49AC-B408-3B3C3BFD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Design and Simulation of a 4-Bit Synchronous Up/Down Counter</a:t>
            </a:r>
          </a:p>
        </p:txBody>
      </p:sp>
    </p:spTree>
    <p:extLst>
      <p:ext uri="{BB962C8B-B14F-4D97-AF65-F5344CB8AC3E}">
        <p14:creationId xmlns:p14="http://schemas.microsoft.com/office/powerpoint/2010/main" val="713512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EFF20B-AC42-4D5E-AEB9-3E5C6AA5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B53C9-D72C-4F64-A42C-50FC787D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Simulation and test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E6A5B-E73A-4E4E-8926-6865B8D7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Demonstrate each required behavior with screenshots or a live 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435FF-59E6-4B7D-86DD-79DC47F5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D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90868-7EB6-444E-9F2D-869EBFB1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762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B9E8F-F1FF-4CB2-A5BC-4869E6D8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2095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00ABF-DE62-43D6-BA48-44DA8F0E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69EE1-9A12-4E71-A507-C246A0D3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619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Expected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72F4B-3AB6-4E66-ADEC-76EF4000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54161-C111-469C-8522-BEC8F08E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62250"/>
            <a:ext cx="2095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BAACB-9320-4F1B-B4E6-5C3DC520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3333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Press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4249D-76F2-407B-8F58-EAB159B2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3619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0000 and digit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852D7-EB6E-437E-81A1-49F58FA6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86150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9970B-D599-430D-882E-4696C971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2095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Up 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EEEA6-A43C-4607-A095-68921083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86150"/>
            <a:ext cx="3333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Apply clock pulses with UP/DOWN =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53C65-44CE-42D0-B526-0220168B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3619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0, 1, 2, …, F,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2E84B-637D-42A3-80E9-2CFAC1F4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0050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E03CA-821C-4934-97C2-1F600219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2095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Down 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45502-9A83-4EAE-8028-626A8BC5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3333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Apply clock pulses with UP/DOWN =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9EE10-2906-4F78-ACAE-0993F430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3619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F, E, D, …, 0, 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39582-4D78-4E8E-86B4-3CC14E2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33950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85850-758D-44EE-821D-DC4B1CD5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2095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Clock 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10B33-1D50-4805-B85A-284C865D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3333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Inspect all Q outputs at one edge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7D373-5A68-447F-A072-38E50A10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33950"/>
            <a:ext cx="3619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All bits change together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C8F00-9D86-473A-A68F-63EBBAE0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Design and Simulation of a 4-Bit Synchronous Up/Down Counter</a:t>
            </a:r>
          </a:p>
        </p:txBody>
      </p:sp>
    </p:spTree>
    <p:extLst>
      <p:ext uri="{BB962C8B-B14F-4D97-AF65-F5344CB8AC3E}">
        <p14:creationId xmlns:p14="http://schemas.microsoft.com/office/powerpoint/2010/main" val="1903922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7AB2D-20C4-4DDD-A845-24477B99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096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465D4-9DB6-488D-A549-ED6FC3A3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838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8DFF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8DFF2"/>
                </a:solidFill>
                <a:latin typeface="Aptos"/>
                <a:ea typeface="Aptos"/>
                <a:cs typeface="Aptos"/>
              </a:rPr>
              <a:t>The project combines sequential logic with a visible output device.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4DAF4-0E68-4B28-B06A-61E5B045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654DA-6765-4D94-BD4A-B95353D6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50BBC-FB5A-4A11-8BD0-A234A11C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241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Synchronous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58540-F17D-4900-B60A-368CE58B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241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DF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FF2"/>
                </a:solidFill>
                <a:latin typeface="Aptos"/>
                <a:ea typeface="Aptos"/>
                <a:cs typeface="Aptos"/>
              </a:rPr>
              <a:t>One common clock updates all bits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EA656-DBD9-4F12-B6D6-DC0EBAB1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38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8C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2EED0-E356-4FE6-81A4-04C02AD7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6CCBA-BF92-46E8-A87C-1B85FF00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Direction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40624-EA4B-4783-89FC-F9B9647C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719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DF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FF2"/>
                </a:solidFill>
                <a:latin typeface="Aptos"/>
                <a:ea typeface="Aptos"/>
                <a:cs typeface="Aptos"/>
              </a:rPr>
              <a:t>The control input chooses increment or decrement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ECFA3-EB1D-42FC-BB18-6A3D13DF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6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BF529-5AF9-4F6C-8BCE-79E330AE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14875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E7244-FC2A-4748-8829-F5A3C3F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Visible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C6504-4806-4BCB-B0B2-A2DACA67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196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DF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FF2"/>
                </a:solidFill>
                <a:latin typeface="Aptos"/>
                <a:ea typeface="Aptos"/>
                <a:cs typeface="Aptos"/>
              </a:rPr>
              <a:t>The display shows each 4-bit state as 0–F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1C54D-2AA1-49E5-800C-3F368388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B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B8C6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67464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2026-09-10T07:20:45.1450000Z</dcterms:created>
  <dcterms:modified xsi:type="dcterms:W3CDTF">2026-09-10T07:20:45.1450000Z</dcterms:modified>
</coreProperties>
</file>